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1005840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40" y="8229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يوزرسيف | UserSaif Studio</a:t>
            </a:r>
          </a:p>
          <a:p>
            <a:pPr>
              <a:defRPr sz="1300">
                <a:solidFill>
                  <a:srgbClr val="8FC6CA"/>
                </a:solidFill>
              </a:defRPr>
            </a:pPr>
            <a:r>
              <a:t>استوديو الطباعة والتخصيص الحرفي بأسوان • IEEE Aswan SB Brand &amp;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منصة يوزرسيف المتكاملة</a:t>
            </a:r>
          </a:p>
          <a:p>
            <a:pPr>
              <a:defRPr sz="3200" b="1">
                <a:solidFill>
                  <a:srgbClr val="EB823C"/>
                </a:solidFill>
              </a:defRPr>
            </a:pPr>
            <a:r>
              <a:t>للطباعة الحرفية وتخصيص المنتجات وإدارة الإنتاج</a:t>
            </a:r>
          </a:p>
          <a:p>
            <a:pPr>
              <a:defRPr sz="1500">
                <a:solidFill>
                  <a:srgbClr val="8FC6CA"/>
                </a:solidFill>
              </a:defRPr>
            </a:pPr>
            <a:r>
              <a:t>هندسة واجهات متقدمة، معالج مواصفات تفاعلي، محرك فحص الجاهزية وتتبع حي للحالات عبر Supabase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فريق الهندسة والتطوير: Ahmed Mostafa &amp; Ebrahim Ashraf &amp; Omar Mohamed</a:t>
            </a:r>
          </a:p>
          <a:p>
            <a:pPr>
              <a:defRPr sz="1200">
                <a:solidFill>
                  <a:srgbClr val="8FC6CA"/>
                </a:solidFill>
              </a:defRPr>
            </a:pPr>
            <a:r>
              <a:t>Vanilla HTML5/CSS3/ES6+ • Supabase Database &amp; RLS • Mobile-First (17 Tested Viewports)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4850"/>
                </a:solidFill>
              </a:defRPr>
            </a:pPr>
            <a:r>
              <a:t>نظرة عامة وأهداف التحدي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2E32"/>
                </a:solidFill>
              </a:defRPr>
            </a:pPr>
            <a:r>
              <a:t>الرؤية والهدف: نقل الحرفة من العشوائية إلى الأرشفة الرقمية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6E73"/>
                </a:solidFill>
              </a:defRPr>
            </a:pPr>
            <a:r>
              <a:t>تمكين العلامة التجارية المحلية بأسوان من امتلاك منصة ويب مستقلة فائقة الأداء تسهل طلبات التخصيص.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14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A2E32"/>
                </a:solidFill>
              </a:defRPr>
            </a:pPr>
            <a:r>
              <a:t>🎯 تخصيص معياري دقيق</a:t>
            </a:r>
          </a:p>
          <a:p>
            <a:pPr>
              <a:defRPr sz="1300">
                <a:solidFill>
                  <a:srgbClr val="5A6E73"/>
                </a:solidFill>
              </a:defRPr>
            </a:pPr>
            <a:r>
              <a:t>استبدال الوصف النصي العشوائي بمصفوفة مواصفات رقمية دقيقة (أوزان GSM، سواتش الألوان، توزيع المقاسات، ومواضع الطباعة الميكانيكية).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011680"/>
            <a:ext cx="338328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A2E32"/>
                </a:solidFill>
              </a:defRPr>
            </a:pPr>
            <a:r>
              <a:t>🛡️ محرك الجاهزية والضمان</a:t>
            </a:r>
          </a:p>
          <a:p>
            <a:pPr>
              <a:defRPr sz="1300">
                <a:solidFill>
                  <a:srgbClr val="5A6E73"/>
                </a:solidFill>
              </a:defRPr>
            </a:pPr>
            <a:r>
              <a:t>فحص أبعاد وملفات التصميم لحظياً عبر readiness.js للتأكد من جودة الدقة DPI وصلاحية الطباعة مع ضمان 100% ضد عيوب الصناعة.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011680"/>
            <a:ext cx="338328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14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A2E32"/>
                </a:solidFill>
              </a:defRPr>
            </a:pPr>
            <a:r>
              <a:t>📊 تتبع ومراقبة حية</a:t>
            </a:r>
          </a:p>
          <a:p>
            <a:pPr>
              <a:defRPr sz="1300">
                <a:solidFill>
                  <a:srgbClr val="5A6E73"/>
                </a:solidFill>
              </a:defRPr>
            </a:pPr>
            <a:r>
              <a:t>توليد معرف طلب فريد (YS-2401) يتيح للعميل تتبع مسار تصنيع طلبه عبر 6 محطات فنية واضحة مع لوحة تحكم لصاحب المشروع.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577840"/>
            <a:ext cx="10698480" cy="731520"/>
          </a:xfrm>
          <a:prstGeom prst="rect">
            <a:avLst/>
          </a:prstGeom>
          <a:solidFill>
            <a:srgbClr val="EEF6F6"/>
          </a:solidFill>
          <a:ln>
            <a:solidFill>
              <a:srgbClr val="8FC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4850"/>
                </a:solidFill>
              </a:defRPr>
            </a:pPr>
            <a:r>
              <a:t>هوية يوزرسيف بأسوان: «خليك مختلف .. خليك يوزرسيف» — الجمع بين أصالة الحرفة والتقنيات الرقمية المباشرة (DTF / Laser Die-Cut).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B823C"/>
                </a:solidFill>
              </a:defRPr>
            </a:pPr>
            <a:r>
              <a:t>المشكلة والحل الهندسي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التحديات الواقعية في صناعة الطباعة الشخصية والحل التقني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FC6CA"/>
                </a:solidFill>
              </a:defRPr>
            </a:pPr>
            <a:r>
              <a:t>مقارنة تحليلية بين الاختناقات التشغيلية للأساليب التقليدية وبديل منصة يوزرسيف الرقمية.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12080" cy="4206240"/>
          </a:xfrm>
          <a:prstGeom prst="roundRect">
            <a:avLst/>
          </a:prstGeom>
          <a:solidFill>
            <a:srgbClr val="192D32"/>
          </a:solidFill>
          <a:ln w="25400">
            <a:solidFill>
              <a:srgbClr val="C8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8278"/>
                </a:solidFill>
              </a:defRPr>
            </a:pPr>
            <a:r>
              <a:t>❌ الوضع التقليدي (Chat &amp; Social DMs)</a:t>
            </a:r>
          </a:p>
          <a:p>
            <a:pPr>
              <a:defRPr sz="1300">
                <a:solidFill>
                  <a:srgbClr val="E6E6E6"/>
                </a:solidFill>
              </a:defRPr>
            </a:pPr>
            <a:r>
              <a:t>• فقدان تفاصيل الطلب: ضياع المقاسات والألوان وسط مئات محادثات واتساب غير المفهرسة.</a:t>
            </a:r>
          </a:p>
          <a:p>
            <a:pPr>
              <a:defRPr sz="1300">
                <a:solidFill>
                  <a:srgbClr val="E6E6E6"/>
                </a:solidFill>
              </a:defRPr>
            </a:pPr>
            <a:r>
              <a:t>• ملفات رديئة الجودة: استلام صور مضغوطة غير صالحة لقص الليزر أو ألواح السلك سكرين.</a:t>
            </a:r>
          </a:p>
          <a:p>
            <a:pPr>
              <a:defRPr sz="1300">
                <a:solidFill>
                  <a:srgbClr val="E6E6E6"/>
                </a:solidFill>
              </a:defRPr>
            </a:pPr>
            <a:r>
              <a:t>• انعدام الشفافية: استنزاف الوقت في الرد على تساؤلات 'طلبي وصل فين؟' بصورة يدوية متكررة.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212080" cy="4206240"/>
          </a:xfrm>
          <a:prstGeom prst="roundRect">
            <a:avLst/>
          </a:prstGeom>
          <a:solidFill>
            <a:srgbClr val="192D32"/>
          </a:solidFill>
          <a:ln w="25400">
            <a:solidFill>
              <a:srgbClr val="8FC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8FC6CA"/>
                </a:solidFill>
              </a:defRPr>
            </a:pPr>
            <a:r>
              <a:t>✔️ منصة يوزرسيف الهندسية (Digital Atelier)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معالج مواصفات تفاعلي (Wizard): حساب آلي للأسعار وتوزيع ذكي للمقاسات يمنع الخطأ البشري.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فحص الجاهزية الآلي (Readiness): تدقيق فوري لنسب الأبعاد وصيغ Vector/PNG قبل إتمام الحفظ.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تتبع حي 6 مراحل بـ Supabase: استعلام فوري برقم الطلب والهاتف يوضح الموقف التنفيذي وتاريخ كل إجراء.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4850"/>
                </a:solidFill>
              </a:defRPr>
            </a:pPr>
            <a:r>
              <a:t>رحلة المستخدم المتكاملة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2E32"/>
                </a:solidFill>
              </a:defRPr>
            </a:pPr>
            <a:r>
              <a:t>مسار انسيابي فائق السهولة من الاستكشاف وحتى الاستلام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6E73"/>
                </a:solidFill>
              </a:defRPr>
            </a:pPr>
            <a:r>
              <a:t>خريطة تدفق تجربة المستخدم (UX Flow) المصممة لتسهيل الشراء للعميل وسرعة اتخاذ القرار للمشغل.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0116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5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14850"/>
                </a:solidFill>
              </a:defRPr>
            </a:pPr>
            <a:r>
              <a:t>1. الاستكشاف والمعرض</a:t>
            </a:r>
          </a:p>
          <a:p>
            <a:pPr>
              <a:defRPr sz="1150">
                <a:solidFill>
                  <a:srgbClr val="5A6E73"/>
                </a:solidFill>
              </a:defRPr>
            </a:pPr>
            <a:r>
              <a:t>تصفح الهيرو الموزاييكي، فحص أركان الجودة وسابقة الأعمال المنفذة بأسوان.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9504" y="2103120"/>
            <a:ext cx="20116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5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14850"/>
                </a:solidFill>
              </a:defRPr>
            </a:pPr>
            <a:r>
              <a:t>2. المواصفات والخيارات</a:t>
            </a:r>
          </a:p>
          <a:p>
            <a:pPr>
              <a:defRPr sz="1150">
                <a:solidFill>
                  <a:srgbClr val="5A6E73"/>
                </a:solidFill>
              </a:defRPr>
            </a:pPr>
            <a:r>
              <a:t>تحديد نوع المنتج، خامات القطن، اللون، وتوزيع المقاسات بالعداد الذكي.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7488" y="2103120"/>
            <a:ext cx="20116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5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14850"/>
                </a:solidFill>
              </a:defRPr>
            </a:pPr>
            <a:r>
              <a:t>3. رفع التصميم والتحقق</a:t>
            </a:r>
          </a:p>
          <a:p>
            <a:pPr>
              <a:defRPr sz="1150">
                <a:solidFill>
                  <a:srgbClr val="5A6E73"/>
                </a:solidFill>
              </a:defRPr>
            </a:pPr>
            <a:r>
              <a:t>سحب وإفلات ملفات الشعار مع تدقيق الجاهزية وإمكانية تجميع سلة طلبات.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5472" y="2103120"/>
            <a:ext cx="20116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5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14850"/>
                </a:solidFill>
              </a:defRPr>
            </a:pPr>
            <a:r>
              <a:t>4. الإرسال والتتبع المباشر</a:t>
            </a:r>
          </a:p>
          <a:p>
            <a:pPr>
              <a:defRPr sz="1150">
                <a:solidFill>
                  <a:srgbClr val="5A6E73"/>
                </a:solidFill>
              </a:defRPr>
            </a:pPr>
            <a:r>
              <a:t>استلام كود الطلب (YS-XXXX) ومتابعة التحديثات اللحظية وموعد التجهيز.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3456" y="2103120"/>
            <a:ext cx="20116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5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14850"/>
                </a:solidFill>
              </a:defRPr>
            </a:pPr>
            <a:r>
              <a:t>5. إدارة المشغل والتنفيذ</a:t>
            </a:r>
          </a:p>
          <a:p>
            <a:pPr>
              <a:defRPr sz="1150">
                <a:solidFill>
                  <a:srgbClr val="5A6E73"/>
                </a:solidFill>
              </a:defRPr>
            </a:pPr>
            <a:r>
              <a:t>مراجعة الإدارة للملف الأصلي عالي الجودة، اتخاذ قرار الاعتماد والتحديث.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577840"/>
            <a:ext cx="10698480" cy="731520"/>
          </a:xfrm>
          <a:prstGeom prst="rect">
            <a:avLst/>
          </a:prstGeom>
          <a:solidFill>
            <a:srgbClr val="EEF6F6"/>
          </a:solidFill>
          <a:ln>
            <a:solidFill>
              <a:srgbClr val="8FC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A2E32"/>
                </a:solidFill>
              </a:defRPr>
            </a:pPr>
            <a:r>
              <a:t>مؤشرات التجربة: صفر تسجيل دخول مطلوب للعميل • 3 خطوات لإنهاء معالج الطلب • 100% توافق مع الشاشات اللمسية.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4850"/>
                </a:solidFill>
              </a:defRPr>
            </a:pPr>
            <a:r>
              <a:t>الميزات والموديولات الرئيسية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2E32"/>
                </a:solidFill>
              </a:defRPr>
            </a:pPr>
            <a:r>
              <a:t>بنية وظيفية متقدمة تغطي دورة حياة الطلب بالكامل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6E73"/>
                </a:solidFill>
              </a:defRPr>
            </a:pPr>
            <a:r>
              <a:t>مكونات برمجية مخصصة طُوّرت لتلبية متطلبات المشغل الفني وعملائه.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603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5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14850"/>
                </a:solidFill>
              </a:defRPr>
            </a:pPr>
            <a:r>
              <a:t>🎨 معالج المواصفات (Wizard)</a:t>
            </a:r>
          </a:p>
          <a:p>
            <a:pPr>
              <a:defRPr sz="1200">
                <a:solidFill>
                  <a:srgbClr val="5A6E73"/>
                </a:solidFill>
              </a:defRPr>
            </a:pPr>
            <a:r>
              <a:t>تبديل ديناميكي بين الملابس والسيراميك والستيكرات مع سواتش ألوان حية ومحدد مسار القص Die-Cut وحساب تكاليف آلي.</a:t>
            </a:r>
          </a:p>
          <a:p>
            <a:pPr>
              <a:defRPr sz="1100" b="1">
                <a:solidFill>
                  <a:srgbClr val="EB823C"/>
                </a:solidFill>
              </a:defRPr>
            </a:pPr>
            <a:r>
              <a:t>[services.html]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011680"/>
            <a:ext cx="25603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5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14850"/>
                </a:solidFill>
              </a:defRPr>
            </a:pPr>
            <a:r>
              <a:t>🖼️ معرض الكاروسيل والشبكة</a:t>
            </a:r>
          </a:p>
          <a:p>
            <a:pPr>
              <a:defRPr sz="1200">
                <a:solidFill>
                  <a:srgbClr val="5A6E73"/>
                </a:solidFill>
              </a:defRPr>
            </a:pPr>
            <a:r>
              <a:t>عرض أعمال المشغل بوضعين (كاروسيل سحب ناعم + شبكة كاملة) مع نافذة تفاصيل ومواصفات الخامات وإمكانية طلب تصميم مماثل.</a:t>
            </a:r>
          </a:p>
          <a:p>
            <a:pPr>
              <a:defRPr sz="1100" b="1">
                <a:solidFill>
                  <a:srgbClr val="EB823C"/>
                </a:solidFill>
              </a:defRPr>
            </a:pPr>
            <a:r>
              <a:t>[portfolio.html]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011680"/>
            <a:ext cx="25603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5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14850"/>
                </a:solidFill>
              </a:defRPr>
            </a:pPr>
            <a:r>
              <a:t>⏱️ التتبع الزمني الحي</a:t>
            </a:r>
          </a:p>
          <a:p>
            <a:pPr>
              <a:defRPr sz="1200">
                <a:solidFill>
                  <a:srgbClr val="5A6E73"/>
                </a:solidFill>
              </a:defRPr>
            </a:pPr>
            <a:r>
              <a:t>تايم لاين رقمي ذكي يتحول من أفقي على الديسكتوب إلى عمودي مريح على الموبايل برقم الهاتف وكود الطلب الفريد.</a:t>
            </a:r>
          </a:p>
          <a:p>
            <a:pPr>
              <a:defRPr sz="1100" b="1">
                <a:solidFill>
                  <a:srgbClr val="EB823C"/>
                </a:solidFill>
              </a:defRPr>
            </a:pPr>
            <a:r>
              <a:t>[track.html]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2011680"/>
            <a:ext cx="25603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5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14850"/>
                </a:solidFill>
              </a:defRPr>
            </a:pPr>
            <a:r>
              <a:t>🔒 لوحة تحكم المشغل (Admin)</a:t>
            </a:r>
          </a:p>
          <a:p>
            <a:pPr>
              <a:defRPr sz="1200">
                <a:solidFill>
                  <a:srgbClr val="5A6E73"/>
                </a:solidFill>
              </a:defRPr>
            </a:pPr>
            <a:r>
              <a:t>مصادقة آمنة، فلترة بالحالات الفنية، فحص دقة التصاميم، واعتماد أو رفض مع كتابة مبررات فنية تفصيلية للعميل.</a:t>
            </a:r>
          </a:p>
          <a:p>
            <a:pPr>
              <a:defRPr sz="1100" b="1">
                <a:solidFill>
                  <a:srgbClr val="EB823C"/>
                </a:solidFill>
              </a:defRPr>
            </a:pPr>
            <a:r>
              <a:t>[admin.html]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B823C"/>
                </a:solidFill>
              </a:defRPr>
            </a:pPr>
            <a:r>
              <a:t>المعمارية التقنية والبنية التحتية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معمارية متينة بدون أطر عمل معقدة (No Framework Overhead)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FC6CA"/>
                </a:solidFill>
              </a:defRPr>
            </a:pPr>
            <a:r>
              <a:t>بناء الموقع باستخدام أحدث تقنيات الويب الأصلية لتحقيق سرعة تحميل فائقة واستقرار وأمان تام لقاعدة البيانات.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B823C"/>
                </a:solidFill>
              </a:defRPr>
            </a:pPr>
            <a:r>
              <a:t>طبقات المعمارية الهندسية:</a:t>
            </a:r>
          </a:p>
          <a:p>
            <a:r>
              <a:rPr sz="1300" b="1">
                <a:solidFill>
                  <a:srgbClr val="EB823C"/>
                </a:solidFill>
              </a:rPr>
              <a:t>• Presentation Layer: </a:t>
            </a:r>
            <a:r>
              <a:rPr sz="1200">
                <a:solidFill>
                  <a:srgbClr val="FFFFFF"/>
                </a:solidFill>
              </a:rPr>
              <a:t>Semantic HTML5, Modular CSS Tokens, Flexbox &amp; Grid.</a:t>
            </a:r>
          </a:p>
          <a:p>
            <a:r>
              <a:rPr sz="1300" b="1">
                <a:solidFill>
                  <a:srgbClr val="EB823C"/>
                </a:solidFill>
              </a:rPr>
              <a:t>• Logic &amp; Execution: </a:t>
            </a:r>
            <a:r>
              <a:rPr sz="1200">
                <a:solidFill>
                  <a:srgbClr val="FFFFFF"/>
                </a:solidFill>
              </a:rPr>
              <a:t>Vanilla ES6+ JavaScript, Native Web APIs, IntersectionObserver, Async/Await.</a:t>
            </a:r>
          </a:p>
          <a:p>
            <a:r>
              <a:rPr sz="1300" b="1">
                <a:solidFill>
                  <a:srgbClr val="EB823C"/>
                </a:solidFill>
              </a:rPr>
              <a:t>• Database Backend: </a:t>
            </a:r>
            <a:r>
              <a:rPr sz="1200">
                <a:solidFill>
                  <a:srgbClr val="FFFFFF"/>
                </a:solidFill>
              </a:rPr>
              <a:t>Supabase PostgreSQL, Realtime DB, Stored Procedures (RPC).</a:t>
            </a:r>
          </a:p>
          <a:p>
            <a:r>
              <a:rPr sz="1300" b="1">
                <a:solidFill>
                  <a:srgbClr val="EB823C"/>
                </a:solidFill>
              </a:rPr>
              <a:t>• Security Engine: </a:t>
            </a:r>
            <a:r>
              <a:rPr sz="1200">
                <a:solidFill>
                  <a:srgbClr val="FFFFFF"/>
                </a:solidFill>
              </a:rPr>
              <a:t>Row Level Security (RLS), Safe Data Escaping, Private Storage Buckets.</a:t>
            </a:r>
          </a:p>
          <a:p>
            <a:r>
              <a:rPr sz="1300" b="1">
                <a:solidFill>
                  <a:srgbClr val="EB823C"/>
                </a:solidFill>
              </a:rPr>
              <a:t>• Design System: </a:t>
            </a:r>
            <a:r>
              <a:rPr sz="1200">
                <a:solidFill>
                  <a:srgbClr val="FFFFFF"/>
                </a:solidFill>
              </a:rPr>
              <a:t>IBM Plex Sans Arabic, 8px Grid, CSS Fluid Typography, High-Contrast Tokens.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5029200" cy="4206240"/>
          </a:xfrm>
          <a:prstGeom prst="roundRect">
            <a:avLst/>
          </a:prstGeom>
          <a:solidFill>
            <a:srgbClr val="143034"/>
          </a:solidFill>
          <a:ln>
            <a:solidFill>
              <a:srgbClr val="8FC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8FC6CA"/>
                </a:solidFill>
              </a:defRPr>
            </a:pPr>
            <a:r>
              <a:t>تسلسل تدفق البيانات (Data Access Flow):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1. config.js</a:t>
            </a:r>
            <a:br/>
            <a:r>
              <a:t>   └─ Supabase URL &amp; Public Anon Key</a:t>
            </a:r>
            <a:br/>
            <a:r>
              <a:t>2. schema.js</a:t>
            </a:r>
            <a:br/>
            <a:r>
              <a:t>   └─ Domain Statuses &amp; Timeline State Machine</a:t>
            </a:r>
            <a:br/>
            <a:r>
              <a:t>3. readiness.js</a:t>
            </a:r>
            <a:br/>
            <a:r>
              <a:t>   └─ Client-side Validation Engine</a:t>
            </a:r>
            <a:br/>
            <a:r>
              <a:t>4. api.js</a:t>
            </a:r>
            <a:br/>
            <a:r>
              <a:t>   └─ Safe DB Gates (Zero direct table queries)</a:t>
            </a:r>
            <a:br/>
            <a:r>
              <a:t>5. page-*.js</a:t>
            </a:r>
            <a:br/>
            <a:r>
              <a:t>   └─ DOM Binding &amp; Reactive UI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4850"/>
                </a:solidFill>
              </a:defRPr>
            </a:pPr>
            <a:r>
              <a:t>نظام التصميم وتجربة المستخدم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2E32"/>
                </a:solidFill>
              </a:defRPr>
            </a:pPr>
            <a:r>
              <a:t>لغة بصرية موحدة وهوية أسوانية راقية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6E73"/>
                </a:solidFill>
              </a:defRPr>
            </a:pPr>
            <a:r>
              <a:t>مبني وفق شبكة مسافات هندسية 8px ومتغيرات مركزية موثقة في ملف tokens.css و base.css.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5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14850"/>
                </a:solidFill>
              </a:defRPr>
            </a:pPr>
            <a:r>
              <a:t>🎨 لوحة الألوان الرسمية</a:t>
            </a:r>
          </a:p>
          <a:p>
            <a:pPr>
              <a:defRPr sz="1250">
                <a:solidFill>
                  <a:srgbClr val="5A6E73"/>
                </a:solidFill>
              </a:defRPr>
            </a:pPr>
            <a:r>
              <a:t>• Deep Teal (#0E3B40): وقار وأصالة الحرفة</a:t>
            </a:r>
            <a:br/>
            <a:r>
              <a:t>• Teal Accent (#8FC6CA): إبراز العناصر التفاعلية</a:t>
            </a:r>
            <a:br/>
            <a:r>
              <a:t>• Sunset Amber (#EB823C): دفء شمس أسوان</a:t>
            </a:r>
            <a:br/>
            <a:r>
              <a:t>• Warm Paper (#F8F7F4): ملمس ورق طبيعي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011680"/>
            <a:ext cx="33832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5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14850"/>
                </a:solidFill>
              </a:defRPr>
            </a:pPr>
            <a:r>
              <a:t>📐 الطباعة والمسافات</a:t>
            </a:r>
          </a:p>
          <a:p>
            <a:pPr>
              <a:defRPr sz="1250">
                <a:solidFill>
                  <a:srgbClr val="5A6E73"/>
                </a:solidFill>
              </a:defRPr>
            </a:pPr>
            <a:r>
              <a:t>• خط IBM Plex Sans Arabic للأحرف العربية الأصيلة</a:t>
            </a:r>
            <a:br/>
            <a:r>
              <a:t>• Fluid Typography بواسطة دوال clamp() المرنة</a:t>
            </a:r>
            <a:br/>
            <a:r>
              <a:t>• شبكة مسافات هندسية من --s-1 (8px) إلى --s-12 (96px)</a:t>
            </a:r>
            <a:br/>
            <a:r>
              <a:t>• أرقام إنجليزية tabular-nums لضبط محاذاة الأسعار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011680"/>
            <a:ext cx="33832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5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14850"/>
                </a:solidFill>
              </a:defRPr>
            </a:pPr>
            <a:r>
              <a:t>♿ الإتاحة وتقليل الحركة</a:t>
            </a:r>
          </a:p>
          <a:p>
            <a:pPr>
              <a:defRPr sz="1250">
                <a:solidFill>
                  <a:srgbClr val="5A6E73"/>
                </a:solidFill>
              </a:defRPr>
            </a:pPr>
            <a:r>
              <a:t>• محرك تقليل الحركة (Reduced Motion) بزر مخصص بالفوتر</a:t>
            </a:r>
            <a:br/>
            <a:r>
              <a:t>• مساحات لمس قياسية لا تقل عن 44px وفق معايير WCAG 2.5</a:t>
            </a:r>
            <a:br/>
            <a:r>
              <a:t>• تباين لوني دقيق وإشارات أيقونية مرافقة لجميع الحالات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4850"/>
                </a:solidFill>
              </a:defRPr>
            </a:pPr>
            <a:r>
              <a:t>الهندسة المتجاوبة والجاهزية للشاشات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2E32"/>
                </a:solidFill>
              </a:defRPr>
            </a:pPr>
            <a:r>
              <a:t>اختبار وتوافق دقيق عبر 17 مقاس شاشة مختلف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6E73"/>
                </a:solidFill>
              </a:defRPr>
            </a:pPr>
            <a:r>
              <a:t>من أصغر شاشات الهواتف (320px) وحتى الشاشات المكتبية بدقة 4K (2560px) بنهج Mobile-First خالص.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solidFill>
            <a:srgbClr val="EEF6F6"/>
          </a:solidFill>
          <a:ln>
            <a:solidFill>
              <a:srgbClr val="8FC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4850"/>
                </a:solidFill>
              </a:defRPr>
            </a:pPr>
            <a:r>
              <a:t>مصفوفة مقاسات العرض المختبرة آلياً بواسطة Playwright:</a:t>
            </a:r>
          </a:p>
          <a:p>
            <a:pPr>
              <a:defRPr sz="1150" b="1">
                <a:solidFill>
                  <a:srgbClr val="0A2E32"/>
                </a:solidFill>
              </a:defRPr>
            </a:pPr>
            <a:r>
              <a:t>320px • 360px • 375px • 390px • 414px • 430px • 480px • 600px • 768px • 820px • 1024px • 1280px • 1366px • 1440px • 1600px • 1920px • 2560px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338328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5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14850"/>
                </a:solidFill>
              </a:defRPr>
            </a:pPr>
            <a:r>
              <a:t>📱 الهواتف (320px - 480px)</a:t>
            </a:r>
          </a:p>
          <a:p>
            <a:pPr>
              <a:defRPr sz="1250">
                <a:solidFill>
                  <a:srgbClr val="5A6E73"/>
                </a:solidFill>
              </a:defRPr>
            </a:pPr>
            <a:r>
              <a:t>قائمة درج كاملة الارتفاع، كروت تدفق رأسية، أزرار إجراءات مثبتة بأسفل الشاشة (Sticky CTA)، وتحويل الجداول إلى كروت ملخصة.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200400"/>
            <a:ext cx="338328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5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14850"/>
                </a:solidFill>
              </a:defRPr>
            </a:pPr>
            <a:r>
              <a:t>📟 الأجهزة اللوحية (600px - 960px)</a:t>
            </a:r>
          </a:p>
          <a:p>
            <a:pPr>
              <a:defRPr sz="1250">
                <a:solidFill>
                  <a:srgbClr val="5A6E73"/>
                </a:solidFill>
              </a:defRPr>
            </a:pPr>
            <a:r>
              <a:t>إعادة ترتيب الأعمدة إلى شبكة ثنائية (2-Column Grid)، الحفاظ على سهولة اللمس بالإبهام، وتحسين حجم الصور الموزاييكية.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3200400"/>
            <a:ext cx="338328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5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14850"/>
                </a:solidFill>
              </a:defRPr>
            </a:pPr>
            <a:r>
              <a:t>🖥️ الشاشات المكتبية (1024px - 2560px)</a:t>
            </a:r>
          </a:p>
          <a:p>
            <a:pPr>
              <a:defRPr sz="1250">
                <a:solidFill>
                  <a:srgbClr val="5A6E73"/>
                </a:solidFill>
              </a:defRPr>
            </a:pPr>
            <a:r>
              <a:t>تخطيط متكامل بعمودين للطلب والمعاينة، تأثيرات تحويم ناعمة، ملاحة أفقية كاملة، وتثبيت شريط الطلب أثناء التمرير.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B823C"/>
                </a:solidFill>
              </a:defRPr>
            </a:pPr>
            <a:r>
              <a:t>معرض الواجهات الحقيقية • تجربة الديسكتوب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فخامة التصميم البصري واستقرار الشاشات الكبيرة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FC6CA"/>
                </a:solidFill>
              </a:defRPr>
            </a:pPr>
            <a:r>
              <a:t>لقطات شاشة فعلية ملتقطة من الموقع الحي توضح تجانس العناصر والشبكة البصرية.</a:t>
            </a:r>
          </a:p>
        </p:txBody>
      </p:sp>
      <p:pic>
        <p:nvPicPr>
          <p:cNvPr id="6" name="Picture 5" descr="index.html_12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03120"/>
            <a:ext cx="5212080" cy="3840480"/>
          </a:xfrm>
          <a:prstGeom prst="rect">
            <a:avLst/>
          </a:prstGeom>
        </p:spPr>
      </p:pic>
      <p:pic>
        <p:nvPicPr>
          <p:cNvPr id="7" name="Picture 6" descr="portfolio.html_12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03120"/>
            <a:ext cx="5212080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03504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FC6CA"/>
                </a:solidFill>
              </a:defRPr>
            </a:pPr>
            <a:r>
              <a:t>الصفحة الرئيسية • الهيرو الموزاييكي وإحصائيات المشغل (1280px)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03504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FC6CA"/>
                </a:solidFill>
              </a:defRPr>
            </a:pPr>
            <a:r>
              <a:t>معرض الأعمال • كاروسيل الأرشيف البصري وفلاتر التصنيفات (1280px)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4850"/>
                </a:solidFill>
              </a:defRPr>
            </a:pPr>
            <a:r>
              <a:t>معرض الواجهات الحقيقية • تجربة الموبايل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2E32"/>
                </a:solidFill>
              </a:defRPr>
            </a:pPr>
            <a:r>
              <a:t>أعلى درجات الراحة والانسيابية على الهواتف الذكية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6E73"/>
                </a:solidFill>
              </a:defRPr>
            </a:pPr>
            <a:r>
              <a:t>لقطات حقيقية على مقاسات الشاشة الصعبة (320px - 414px) مع خلو كامل من أي تمدد أفقي أو تشويه نصي.</a:t>
            </a:r>
          </a:p>
        </p:txBody>
      </p:sp>
      <p:pic>
        <p:nvPicPr>
          <p:cNvPr id="6" name="Picture 5" descr="index.html_3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2560320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61264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114850"/>
                </a:solidFill>
              </a:defRPr>
            </a:pPr>
            <a:r>
              <a:t>الرئيسية (iPhone 375px)</a:t>
            </a:r>
          </a:p>
        </p:txBody>
      </p:sp>
      <p:pic>
        <p:nvPicPr>
          <p:cNvPr id="8" name="Picture 7" descr="services.html_3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103120"/>
            <a:ext cx="2560320" cy="3931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54880" y="61264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114850"/>
                </a:solidFill>
              </a:defRPr>
            </a:pPr>
            <a:r>
              <a:t>دليل الخدمات والمواصفات</a:t>
            </a:r>
          </a:p>
        </p:txBody>
      </p:sp>
      <p:pic>
        <p:nvPicPr>
          <p:cNvPr id="10" name="Picture 9" descr="track.html_37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2103120"/>
            <a:ext cx="2560320" cy="3931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38160" y="61264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114850"/>
                </a:solidFill>
              </a:defRPr>
            </a:pPr>
            <a:r>
              <a:t>تتبع الطلب بالهاتف والكود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4850"/>
                </a:solidFill>
              </a:defRPr>
            </a:pPr>
            <a:r>
              <a:t>ضمان الجودة واختبارات الأتمتة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2E32"/>
                </a:solidFill>
              </a:defRPr>
            </a:pPr>
            <a:r>
              <a:t>تحديات هندسية حقيقية تم اكتشافها وحلها بالكامل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6E73"/>
                </a:solidFill>
              </a:defRPr>
            </a:pPr>
            <a:r>
              <a:t>توثيق الاختبارات الآلية والتحسينات الملموسة التي أُجريت أثناء دورة التطوير.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120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B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B823C"/>
                </a:solidFill>
              </a:defRPr>
            </a:pPr>
            <a:r>
              <a:t>🔍 تحديات تم اكتشافها أثناء التدقيق:</a:t>
            </a:r>
          </a:p>
          <a:p>
            <a:pPr>
              <a:defRPr sz="1200">
                <a:solidFill>
                  <a:srgbClr val="5A6E73"/>
                </a:solidFill>
              </a:defRPr>
            </a:pPr>
            <a:r>
              <a:t>• أوفر فلو 211px بمعالج الطلبات: تسبب زر تغيير الخدمة وشريط المواصفات في تمدد الصفحة لشاشات 320px–480px.</a:t>
            </a:r>
          </a:p>
          <a:p>
            <a:pPr>
              <a:defRPr sz="1200">
                <a:solidFill>
                  <a:srgbClr val="5A6E73"/>
                </a:solidFill>
              </a:defRPr>
            </a:pPr>
            <a:r>
              <a:t>• لوحة تحكم المشغل بالهواتف: ثبات السايد بار بعرض 272px على الموبايل دون تحوله لدرج متحرك.</a:t>
            </a:r>
          </a:p>
          <a:p>
            <a:pPr>
              <a:defRPr sz="1200">
                <a:solidFill>
                  <a:srgbClr val="5A6E73"/>
                </a:solidFill>
              </a:defRPr>
            </a:pPr>
            <a:r>
              <a:t>• مساحات لمس صغيرة بالهيدر: أزرار أقل من 40px تم رصدها على الهواتف المدمجة.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2120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1B6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B6B45"/>
                </a:solidFill>
              </a:defRPr>
            </a:pPr>
            <a:r>
              <a:t>✅ الحلول والنتائج المؤكدة (PASSED):</a:t>
            </a:r>
          </a:p>
          <a:p>
            <a:pPr>
              <a:defRPr sz="1200">
                <a:solidFill>
                  <a:srgbClr val="0A2E32"/>
                </a:solidFill>
              </a:defRPr>
            </a:pPr>
            <a:r>
              <a:t>✓ Zero Horizontal Overflow: إعادة هيكلة الفلكس مع overflow-x: clip ليصبح الفائض 0px عبر كافة الشاشات.</a:t>
            </a:r>
          </a:p>
          <a:p>
            <a:pPr>
              <a:defRPr sz="1200">
                <a:solidFill>
                  <a:srgbClr val="0A2E32"/>
                </a:solidFill>
              </a:defRPr>
            </a:pPr>
            <a:r>
              <a:t>✓ Off-Canvas Admin Drawer: تحويل سايد بار الإدارة إلى درج متحرك ناعم مع خلفية تعتيم Scrim.</a:t>
            </a:r>
          </a:p>
          <a:p>
            <a:pPr>
              <a:defRPr sz="1200">
                <a:solidFill>
                  <a:srgbClr val="0A2E32"/>
                </a:solidFill>
              </a:defRPr>
            </a:pPr>
            <a:r>
              <a:t>✓ Safe-Area &amp; Touch Compliance: ضبط هوامش الأمان للهواتف مع أحجام أزرار لمسية 44px قياسية.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577840"/>
            <a:ext cx="10698480" cy="731520"/>
          </a:xfrm>
          <a:prstGeom prst="rect">
            <a:avLst/>
          </a:prstGeom>
          <a:solidFill>
            <a:srgbClr val="E3F3EA"/>
          </a:solidFill>
          <a:ln>
            <a:solidFill>
              <a:srgbClr val="1B6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B6B45"/>
                </a:solidFill>
              </a:defRPr>
            </a:pPr>
            <a:r>
              <a:t>نتائج الفحص النهائي: 0px تمدد أفقي • 17 مقاس شاشة مجتاز بالكامل • 100% اختبارات مؤكدة بـ Playwright.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B823C"/>
                </a:solidFill>
              </a:defRPr>
            </a:pPr>
            <a:r>
              <a:t>الخاتمة والتطلعات المستقبلية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جاهزية كاملة للإطلاق ومسار تطوير مستمر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FC6CA"/>
                </a:solidFill>
              </a:defRPr>
            </a:pPr>
            <a:r>
              <a:t>مشروع متكامل يجمع بين الطابع الحرفي الأصيل والهندسة البرمجية الدقيقة لخدمة مجتمع أسوان.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3200400"/>
          </a:xfrm>
          <a:prstGeom prst="roundRect">
            <a:avLst/>
          </a:prstGeom>
          <a:solidFill>
            <a:srgbClr val="143034"/>
          </a:solidFill>
          <a:ln>
            <a:solidFill>
              <a:srgbClr val="8FC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8FC6CA"/>
                </a:solidFill>
              </a:defRPr>
            </a:pPr>
            <a:r>
              <a:t>💳 الدفع الإلكتروني المباشر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تكامل بوابات الدفع المصرية المعتمدة (InstaPay / Fawry / محافظ المحمول) لتأكيد دفع العربون آلياً فور اعتماد الطلب.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011680"/>
            <a:ext cx="3383280" cy="3200400"/>
          </a:xfrm>
          <a:prstGeom prst="roundRect">
            <a:avLst/>
          </a:prstGeom>
          <a:solidFill>
            <a:srgbClr val="143034"/>
          </a:solidFill>
          <a:ln>
            <a:solidFill>
              <a:srgbClr val="8FC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8FC6CA"/>
                </a:solidFill>
              </a:defRPr>
            </a:pPr>
            <a:r>
              <a:t>👕 معاينة تفاعلية 3D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دمج محرك ثلاثي الأبعاد (WebGL/Three.js) يتيح للعميل استعراض مجسم التيشيرت أو الماج بالطباعة قبل الإرسال.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011680"/>
            <a:ext cx="3383280" cy="3200400"/>
          </a:xfrm>
          <a:prstGeom prst="roundRect">
            <a:avLst/>
          </a:prstGeom>
          <a:solidFill>
            <a:srgbClr val="143034"/>
          </a:solidFill>
          <a:ln>
            <a:solidFill>
              <a:srgbClr val="8FC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8FC6CA"/>
                </a:solidFill>
              </a:defRPr>
            </a:pPr>
            <a:r>
              <a:t>📲 إشعارات واتساب السحابية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ربط واتساب بيزنس كلاود عبر Webhooks لإرسال رسائل تحديث الحالة الفورية للعميل دون أي تدخل يدوي.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شكراً لكم • جاهزون لأي أسئلة وملاحظات</a:t>
            </a:r>
          </a:p>
          <a:p>
            <a:pPr algn="ctr">
              <a:defRPr sz="1200">
                <a:solidFill>
                  <a:srgbClr val="8FC6CA"/>
                </a:solidFill>
              </a:defRPr>
            </a:pPr>
            <a:r>
              <a:t>استوديو يوزرسيف بأسوان — IEEE Aswan Student Branch Brand &amp; Build Challenge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